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40FA-6307-4AD7-9F9A-4C5E8817E5BF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97CE6-C412-400A-AA73-1E2576D3E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40FA-6307-4AD7-9F9A-4C5E8817E5BF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97CE6-C412-400A-AA73-1E2576D3E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40FA-6307-4AD7-9F9A-4C5E8817E5BF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97CE6-C412-400A-AA73-1E2576D3E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40FA-6307-4AD7-9F9A-4C5E8817E5BF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97CE6-C412-400A-AA73-1E2576D3E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40FA-6307-4AD7-9F9A-4C5E8817E5BF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97CE6-C412-400A-AA73-1E2576D3E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40FA-6307-4AD7-9F9A-4C5E8817E5BF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97CE6-C412-400A-AA73-1E2576D3E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40FA-6307-4AD7-9F9A-4C5E8817E5BF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97CE6-C412-400A-AA73-1E2576D3E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40FA-6307-4AD7-9F9A-4C5E8817E5BF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97CE6-C412-400A-AA73-1E2576D3E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40FA-6307-4AD7-9F9A-4C5E8817E5BF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2097CE6-C412-400A-AA73-1E2576D3E0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40FA-6307-4AD7-9F9A-4C5E8817E5BF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97CE6-C412-400A-AA73-1E2576D3E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40FA-6307-4AD7-9F9A-4C5E8817E5BF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97CE6-C412-400A-AA73-1E2576D3E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4D940FA-6307-4AD7-9F9A-4C5E8817E5BF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2097CE6-C412-400A-AA73-1E2576D3E0E0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PhonePe</a:t>
            </a:r>
            <a:r>
              <a:rPr lang="en-US" dirty="0" smtClean="0"/>
              <a:t> Pulse Data Visualization (2018–2023)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632512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Digital Payments • Transactions • Users • Geo Trends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1560" y="5373216"/>
            <a:ext cx="28083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2"/>
                </a:solidFill>
                <a:latin typeface="Cambria" pitchFamily="18" charset="0"/>
                <a:ea typeface="Cambria" pitchFamily="18" charset="0"/>
              </a:rPr>
              <a:t>NEERAJ KUMAR</a:t>
            </a:r>
            <a:r>
              <a:rPr lang="en-US" sz="2000" dirty="0" smtClean="0">
                <a:solidFill>
                  <a:schemeClr val="bg2"/>
                </a:solidFill>
                <a:latin typeface="Cambria" pitchFamily="18" charset="0"/>
                <a:ea typeface="Cambria" pitchFamily="18" charset="0"/>
              </a:rPr>
              <a:t/>
            </a:r>
            <a:br>
              <a:rPr lang="en-US" sz="2000" dirty="0" smtClean="0">
                <a:solidFill>
                  <a:schemeClr val="bg2"/>
                </a:solidFill>
                <a:latin typeface="Cambria" pitchFamily="18" charset="0"/>
                <a:ea typeface="Cambria" pitchFamily="18" charset="0"/>
              </a:rPr>
            </a:br>
            <a:r>
              <a:rPr lang="en-US" sz="2000" dirty="0" smtClean="0">
                <a:solidFill>
                  <a:schemeClr val="bg2"/>
                </a:solidFill>
                <a:latin typeface="Cambria" pitchFamily="18" charset="0"/>
                <a:ea typeface="Cambria" pitchFamily="18" charset="0"/>
              </a:rPr>
              <a:t>Data Analyst Intern</a:t>
            </a:r>
          </a:p>
          <a:p>
            <a:r>
              <a:rPr lang="en-US" sz="2000" dirty="0" smtClean="0">
                <a:solidFill>
                  <a:schemeClr val="bg2"/>
                </a:solidFill>
                <a:latin typeface="Cambria" pitchFamily="18" charset="0"/>
                <a:ea typeface="Cambria" pitchFamily="18" charset="0"/>
              </a:rPr>
              <a:t>LABMENTIX</a:t>
            </a:r>
            <a:endParaRPr lang="en-US" sz="2000" dirty="0">
              <a:solidFill>
                <a:schemeClr val="bg2"/>
              </a:solidFill>
              <a:latin typeface="Cambria" pitchFamily="18" charset="0"/>
              <a:ea typeface="Cambria" pitchFamily="18" charset="0"/>
            </a:endParaRPr>
          </a:p>
        </p:txBody>
      </p:sp>
      <p:pic>
        <p:nvPicPr>
          <p:cNvPr id="5" name="Picture 4" descr="icons8-phone-pe-4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31640" y="1595340"/>
            <a:ext cx="1080120" cy="7535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52704"/>
          </a:xfrm>
        </p:spPr>
        <p:txBody>
          <a:bodyPr>
            <a:normAutofit/>
          </a:bodyPr>
          <a:lstStyle/>
          <a:p>
            <a:r>
              <a:rPr lang="en-US" dirty="0" smtClean="0"/>
              <a:t>Project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695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🎯 </a:t>
            </a:r>
            <a:r>
              <a:rPr lang="en-US" dirty="0" smtClean="0"/>
              <a:t> </a:t>
            </a:r>
            <a:r>
              <a:rPr lang="en-US" b="1" dirty="0" smtClean="0"/>
              <a:t>Objective</a:t>
            </a:r>
            <a:endParaRPr lang="en-US" b="1" dirty="0" smtClean="0"/>
          </a:p>
          <a:p>
            <a:pPr lvl="1"/>
            <a:r>
              <a:rPr lang="en-US" sz="2000" dirty="0" smtClean="0">
                <a:latin typeface="Cambria" pitchFamily="18" charset="0"/>
                <a:ea typeface="Cambria" pitchFamily="18" charset="0"/>
              </a:rPr>
              <a:t>To analyze </a:t>
            </a:r>
            <a:r>
              <a:rPr lang="en-US" sz="2000" dirty="0" err="1" smtClean="0">
                <a:latin typeface="Cambria" pitchFamily="18" charset="0"/>
                <a:ea typeface="Cambria" pitchFamily="18" charset="0"/>
              </a:rPr>
              <a:t>PhonePe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 digital payment trends across India</a:t>
            </a:r>
          </a:p>
          <a:p>
            <a:pPr lvl="1"/>
            <a:r>
              <a:rPr lang="en-US" sz="2000" dirty="0" smtClean="0">
                <a:latin typeface="Cambria" pitchFamily="18" charset="0"/>
                <a:ea typeface="Cambria" pitchFamily="18" charset="0"/>
              </a:rPr>
              <a:t>Build an interactive Tableau dashboard</a:t>
            </a:r>
          </a:p>
          <a:p>
            <a:pPr lvl="1"/>
            <a:r>
              <a:rPr lang="en-US" sz="2000" dirty="0" smtClean="0">
                <a:latin typeface="Cambria" pitchFamily="18" charset="0"/>
                <a:ea typeface="Cambria" pitchFamily="18" charset="0"/>
              </a:rPr>
              <a:t>Generate insights on transactions, users, device brands &amp; geography</a:t>
            </a:r>
          </a:p>
          <a:p>
            <a:pPr lvl="1">
              <a:buNone/>
            </a:pPr>
            <a:endParaRPr lang="en-US" sz="2000" dirty="0" smtClean="0">
              <a:latin typeface="Cambria" pitchFamily="18" charset="0"/>
              <a:ea typeface="Cambria" pitchFamily="18" charset="0"/>
            </a:endParaRPr>
          </a:p>
          <a:p>
            <a:pPr>
              <a:buNone/>
            </a:pPr>
            <a:r>
              <a:rPr lang="en-US" dirty="0" smtClean="0"/>
              <a:t>📊 </a:t>
            </a:r>
            <a:r>
              <a:rPr lang="en-US" b="1" dirty="0" smtClean="0"/>
              <a:t>Dataset</a:t>
            </a:r>
            <a:endParaRPr lang="en-US" b="1" dirty="0" smtClean="0"/>
          </a:p>
          <a:p>
            <a:pPr lvl="1"/>
            <a:r>
              <a:rPr lang="en-US" sz="2000" dirty="0" smtClean="0">
                <a:latin typeface="Cambria" pitchFamily="18" charset="0"/>
                <a:ea typeface="Cambria" pitchFamily="18" charset="0"/>
              </a:rPr>
              <a:t>Aggregated transactions</a:t>
            </a:r>
          </a:p>
          <a:p>
            <a:pPr lvl="1"/>
            <a:r>
              <a:rPr lang="en-US" sz="2000" dirty="0" smtClean="0">
                <a:latin typeface="Cambria" pitchFamily="18" charset="0"/>
                <a:ea typeface="Cambria" pitchFamily="18" charset="0"/>
              </a:rPr>
              <a:t>Aggregated users</a:t>
            </a:r>
          </a:p>
          <a:p>
            <a:pPr lvl="1"/>
            <a:r>
              <a:rPr lang="en-US" sz="2000" dirty="0" smtClean="0">
                <a:latin typeface="Cambria" pitchFamily="18" charset="0"/>
                <a:ea typeface="Cambria" pitchFamily="18" charset="0"/>
              </a:rPr>
              <a:t>District-level data</a:t>
            </a:r>
          </a:p>
          <a:p>
            <a:pPr lvl="1"/>
            <a:r>
              <a:rPr lang="en-US" sz="2000" dirty="0" smtClean="0">
                <a:latin typeface="Cambria" pitchFamily="18" charset="0"/>
                <a:ea typeface="Cambria" pitchFamily="18" charset="0"/>
              </a:rPr>
              <a:t>State-level data</a:t>
            </a:r>
          </a:p>
          <a:p>
            <a:pPr lvl="1"/>
            <a:r>
              <a:rPr lang="en-US" sz="2000" dirty="0" smtClean="0">
                <a:latin typeface="Cambria" pitchFamily="18" charset="0"/>
                <a:ea typeface="Cambria" pitchFamily="18" charset="0"/>
              </a:rPr>
              <a:t>Top states &amp; districts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52704"/>
          </a:xfrm>
        </p:spPr>
        <p:txBody>
          <a:bodyPr/>
          <a:lstStyle/>
          <a:p>
            <a:r>
              <a:rPr lang="en-US" dirty="0" smtClean="0"/>
              <a:t>Dashboard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695800"/>
          </a:xfrm>
        </p:spPr>
        <p:txBody>
          <a:bodyPr/>
          <a:lstStyle/>
          <a:p>
            <a:r>
              <a:rPr lang="en-US" b="1" dirty="0" smtClean="0"/>
              <a:t>Dashboard Contains:</a:t>
            </a:r>
          </a:p>
          <a:p>
            <a:pPr lvl="1"/>
            <a:r>
              <a:rPr lang="en-US" sz="2000" dirty="0" smtClean="0">
                <a:latin typeface="Cambria" pitchFamily="18" charset="0"/>
                <a:ea typeface="Cambria" pitchFamily="18" charset="0"/>
              </a:rPr>
              <a:t>KPI Cards (Value, Transactions, Average Ticket, Users)</a:t>
            </a:r>
          </a:p>
          <a:p>
            <a:pPr lvl="1"/>
            <a:r>
              <a:rPr lang="en-US" sz="2000" dirty="0" smtClean="0">
                <a:latin typeface="Cambria" pitchFamily="18" charset="0"/>
                <a:ea typeface="Cambria" pitchFamily="18" charset="0"/>
              </a:rPr>
              <a:t>Geo Visualization (State + District)</a:t>
            </a:r>
          </a:p>
          <a:p>
            <a:pPr lvl="1"/>
            <a:r>
              <a:rPr lang="en-US" sz="2000" dirty="0" smtClean="0">
                <a:latin typeface="Cambria" pitchFamily="18" charset="0"/>
                <a:ea typeface="Cambria" pitchFamily="18" charset="0"/>
              </a:rPr>
              <a:t>Time-Series Trend Chart</a:t>
            </a:r>
          </a:p>
          <a:p>
            <a:pPr lvl="1"/>
            <a:r>
              <a:rPr lang="en-US" sz="2000" dirty="0" smtClean="0">
                <a:latin typeface="Cambria" pitchFamily="18" charset="0"/>
                <a:ea typeface="Cambria" pitchFamily="18" charset="0"/>
              </a:rPr>
              <a:t>Top 10 States (Transactions &amp; Users)</a:t>
            </a:r>
          </a:p>
          <a:p>
            <a:pPr lvl="1"/>
            <a:r>
              <a:rPr lang="en-US" sz="2000" dirty="0" smtClean="0">
                <a:latin typeface="Cambria" pitchFamily="18" charset="0"/>
                <a:ea typeface="Cambria" pitchFamily="18" charset="0"/>
              </a:rPr>
              <a:t>Brand-wise User Distribution (</a:t>
            </a:r>
            <a:r>
              <a:rPr lang="en-US" sz="2000" dirty="0" err="1" smtClean="0">
                <a:latin typeface="Cambria" pitchFamily="18" charset="0"/>
                <a:ea typeface="Cambria" pitchFamily="18" charset="0"/>
              </a:rPr>
              <a:t>TreeMap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)</a:t>
            </a:r>
          </a:p>
          <a:p>
            <a:pPr lvl="1"/>
            <a:r>
              <a:rPr lang="en-US" sz="2000" dirty="0" smtClean="0">
                <a:latin typeface="Cambria" pitchFamily="18" charset="0"/>
                <a:ea typeface="Cambria" pitchFamily="18" charset="0"/>
              </a:rPr>
              <a:t>Filters Panel (Year, Quarter, Brand, Trans Type, etc.)</a:t>
            </a:r>
          </a:p>
          <a:p>
            <a:pPr lvl="1">
              <a:buNone/>
            </a:pPr>
            <a:endParaRPr lang="en-US" sz="2000" dirty="0" smtClean="0">
              <a:latin typeface="Cambria" pitchFamily="18" charset="0"/>
              <a:ea typeface="Cambria" pitchFamily="18" charset="0"/>
            </a:endParaRPr>
          </a:p>
          <a:p>
            <a:pPr>
              <a:buNone/>
            </a:pPr>
            <a:r>
              <a:rPr lang="en-US" b="1" dirty="0" smtClean="0"/>
              <a:t>🎯 Purpose: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To understand growth patterns &amp; payment adoption across India.</a:t>
            </a:r>
          </a:p>
          <a:p>
            <a:pPr lvl="1">
              <a:buNone/>
            </a:pPr>
            <a:endParaRPr lang="en-US" sz="2000" dirty="0">
              <a:latin typeface="Cambria" pitchFamily="18" charset="0"/>
              <a:ea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8069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Key KPIs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551784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📌 From 2018–2022: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b="1" dirty="0" smtClean="0">
                <a:latin typeface="Cambria" pitchFamily="18" charset="0"/>
                <a:ea typeface="Cambria" pitchFamily="18" charset="0"/>
              </a:rPr>
              <a:t>Total Value: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 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₹121.4T</a:t>
            </a:r>
            <a:endParaRPr lang="en-US" sz="2000" dirty="0" smtClean="0">
              <a:latin typeface="Cambria" pitchFamily="18" charset="0"/>
              <a:ea typeface="Cambria" pitchFamily="18" charset="0"/>
            </a:endParaRPr>
          </a:p>
          <a:p>
            <a:pPr lvl="1">
              <a:buFont typeface="Wingdings" pitchFamily="2" charset="2"/>
              <a:buChar char="v"/>
            </a:pPr>
            <a:r>
              <a:rPr lang="en-US" sz="2000" b="1" dirty="0" smtClean="0">
                <a:latin typeface="Cambria" pitchFamily="18" charset="0"/>
                <a:ea typeface="Cambria" pitchFamily="18" charset="0"/>
              </a:rPr>
              <a:t>Total Transactions: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 71,723.73M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b="1" dirty="0" smtClean="0">
                <a:latin typeface="Cambria" pitchFamily="18" charset="0"/>
                <a:ea typeface="Cambria" pitchFamily="18" charset="0"/>
              </a:rPr>
              <a:t>Average Ticket Size: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 ₹ 35,085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b="1" dirty="0" smtClean="0">
                <a:latin typeface="Cambria" pitchFamily="18" charset="0"/>
                <a:ea typeface="Cambria" pitchFamily="18" charset="0"/>
              </a:rPr>
              <a:t>Active Users: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 4,702.02M</a:t>
            </a:r>
          </a:p>
          <a:p>
            <a:pPr lvl="1"/>
            <a:endParaRPr lang="en-US" sz="2000" dirty="0" smtClean="0">
              <a:latin typeface="Cambria" pitchFamily="18" charset="0"/>
              <a:ea typeface="Cambria" pitchFamily="18" charset="0"/>
            </a:endParaRPr>
          </a:p>
          <a:p>
            <a:pPr lvl="1"/>
            <a:endParaRPr lang="en-US" sz="2000" dirty="0" smtClean="0">
              <a:latin typeface="Cambria" pitchFamily="18" charset="0"/>
              <a:ea typeface="Cambria" pitchFamily="18" charset="0"/>
            </a:endParaRPr>
          </a:p>
          <a:p>
            <a:pPr lvl="1"/>
            <a:endParaRPr lang="en-US" sz="2000" dirty="0" smtClean="0">
              <a:latin typeface="Cambria" pitchFamily="18" charset="0"/>
              <a:ea typeface="Cambria" pitchFamily="18" charset="0"/>
            </a:endParaRPr>
          </a:p>
          <a:p>
            <a:pPr>
              <a:buNone/>
            </a:pPr>
            <a:r>
              <a:rPr lang="en-US" b="1" dirty="0" smtClean="0"/>
              <a:t>💡 Insights: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Transaction volume is extremely high across India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Larger values show rapid adoption of digital payments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8069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Geo Visualization (By State)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623792"/>
          </a:xfrm>
        </p:spPr>
        <p:txBody>
          <a:bodyPr/>
          <a:lstStyle/>
          <a:p>
            <a:r>
              <a:rPr lang="en-US" b="1" dirty="0" smtClean="0"/>
              <a:t>Top Performing States: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Maharashtra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Karnataka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 err="1" smtClean="0">
                <a:latin typeface="Cambria" pitchFamily="18" charset="0"/>
                <a:ea typeface="Cambria" pitchFamily="18" charset="0"/>
              </a:rPr>
              <a:t>Telangana</a:t>
            </a:r>
            <a:endParaRPr lang="en-US" sz="2000" dirty="0" smtClean="0">
              <a:latin typeface="Cambria" pitchFamily="18" charset="0"/>
              <a:ea typeface="Cambria" pitchFamily="18" charset="0"/>
            </a:endParaRPr>
          </a:p>
          <a:p>
            <a:pPr lvl="1">
              <a:buFont typeface="Wingdings" pitchFamily="2" charset="2"/>
              <a:buChar char="v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Tamil Nadu</a:t>
            </a:r>
          </a:p>
          <a:p>
            <a:pPr lvl="1">
              <a:buFont typeface="Wingdings" pitchFamily="2" charset="2"/>
              <a:buChar char="v"/>
            </a:pPr>
            <a:endParaRPr lang="en-US" sz="2000" b="1" dirty="0" smtClean="0">
              <a:latin typeface="Cambria" pitchFamily="18" charset="0"/>
              <a:ea typeface="Cambria" pitchFamily="18" charset="0"/>
            </a:endParaRPr>
          </a:p>
          <a:p>
            <a:pPr lvl="1">
              <a:buFont typeface="Wingdings" pitchFamily="2" charset="2"/>
              <a:buChar char="v"/>
            </a:pPr>
            <a:endParaRPr lang="en-US" sz="2000" dirty="0" smtClean="0">
              <a:latin typeface="Cambria" pitchFamily="18" charset="0"/>
              <a:ea typeface="Cambria" pitchFamily="18" charset="0"/>
            </a:endParaRPr>
          </a:p>
          <a:p>
            <a:pPr lvl="1">
              <a:buFont typeface="Wingdings" pitchFamily="2" charset="2"/>
              <a:buChar char="v"/>
            </a:pPr>
            <a:endParaRPr lang="en-US" sz="2000" dirty="0" smtClean="0">
              <a:latin typeface="Cambria" pitchFamily="18" charset="0"/>
              <a:ea typeface="Cambria" pitchFamily="18" charset="0"/>
            </a:endParaRPr>
          </a:p>
          <a:p>
            <a:pPr>
              <a:buNone/>
            </a:pPr>
            <a:r>
              <a:rPr lang="en-US" b="1" dirty="0" smtClean="0"/>
              <a:t>💡 Insight: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These states contribute the highest share of digital transactions.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They also show the strongest </a:t>
            </a:r>
            <a:r>
              <a:rPr lang="en-US" sz="2000" dirty="0" err="1" smtClean="0">
                <a:latin typeface="Cambria" pitchFamily="18" charset="0"/>
                <a:ea typeface="Cambria" pitchFamily="18" charset="0"/>
              </a:rPr>
              <a:t>YoY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 growth.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1844824"/>
            <a:ext cx="3384376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8069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Geo Visualization (By District)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623792"/>
          </a:xfrm>
        </p:spPr>
        <p:txBody>
          <a:bodyPr/>
          <a:lstStyle/>
          <a:p>
            <a:r>
              <a:rPr lang="en-US" b="1" dirty="0" smtClean="0"/>
              <a:t>Districts with Highest Activity: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 err="1" smtClean="0">
                <a:latin typeface="Cambria" pitchFamily="18" charset="0"/>
                <a:ea typeface="Cambria" pitchFamily="18" charset="0"/>
              </a:rPr>
              <a:t>Bengaluru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 (Urban)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Hyderabad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Chennai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Mumbai Suburban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 err="1" smtClean="0">
                <a:latin typeface="Cambria" pitchFamily="18" charset="0"/>
                <a:ea typeface="Cambria" pitchFamily="18" charset="0"/>
              </a:rPr>
              <a:t>Pune</a:t>
            </a:r>
            <a:endParaRPr lang="en-US" sz="2000" dirty="0" smtClean="0">
              <a:latin typeface="Cambria" pitchFamily="18" charset="0"/>
              <a:ea typeface="Cambria" pitchFamily="18" charset="0"/>
            </a:endParaRPr>
          </a:p>
          <a:p>
            <a:pPr lvl="1">
              <a:buFont typeface="Wingdings" pitchFamily="2" charset="2"/>
              <a:buChar char="v"/>
            </a:pPr>
            <a:endParaRPr lang="en-US" sz="2000" dirty="0" smtClean="0">
              <a:latin typeface="Cambria" pitchFamily="18" charset="0"/>
              <a:ea typeface="Cambria" pitchFamily="18" charset="0"/>
            </a:endParaRPr>
          </a:p>
          <a:p>
            <a:pPr lvl="1">
              <a:buFont typeface="Wingdings" pitchFamily="2" charset="2"/>
              <a:buChar char="v"/>
            </a:pPr>
            <a:endParaRPr lang="en-US" sz="2000" dirty="0" smtClean="0">
              <a:latin typeface="Cambria" pitchFamily="18" charset="0"/>
              <a:ea typeface="Cambria" pitchFamily="18" charset="0"/>
            </a:endParaRPr>
          </a:p>
          <a:p>
            <a:pPr>
              <a:buNone/>
            </a:pPr>
            <a:r>
              <a:rPr lang="en-US" b="1" dirty="0" smtClean="0"/>
              <a:t>💡 Insight: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Tier-1 metro districts lead by a huge margin.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Large bubble clusters in South India &amp; Maharashtra show concentrated activity.</a:t>
            </a:r>
          </a:p>
          <a:p>
            <a:pPr lvl="1">
              <a:buFont typeface="Wingdings" pitchFamily="2" charset="2"/>
              <a:buChar char="v"/>
            </a:pPr>
            <a:endParaRPr lang="en-US" sz="2000" dirty="0" smtClean="0">
              <a:latin typeface="Cambria" pitchFamily="18" charset="0"/>
              <a:ea typeface="Cambria" pitchFamily="18" charset="0"/>
            </a:endParaRP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07496" y="1844824"/>
            <a:ext cx="3429000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8069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Time-Series Trend (2018–2022)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695800"/>
          </a:xfrm>
        </p:spPr>
        <p:txBody>
          <a:bodyPr/>
          <a:lstStyle/>
          <a:p>
            <a:r>
              <a:rPr lang="en-US" b="1" dirty="0" smtClean="0"/>
              <a:t>Trend Summary: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Transactions grew from </a:t>
            </a:r>
            <a:r>
              <a:rPr lang="en-US" sz="2000" b="1" dirty="0" smtClean="0">
                <a:latin typeface="Cambria" pitchFamily="18" charset="0"/>
                <a:ea typeface="Cambria" pitchFamily="18" charset="0"/>
              </a:rPr>
              <a:t>₹6T → ₹64T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 (10X increase)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Peak growth: </a:t>
            </a:r>
            <a:r>
              <a:rPr lang="en-US" sz="2000" b="1" dirty="0" smtClean="0">
                <a:latin typeface="Cambria" pitchFamily="18" charset="0"/>
                <a:ea typeface="Cambria" pitchFamily="18" charset="0"/>
              </a:rPr>
              <a:t>2020–2021 (Post-COVID acceleration)</a:t>
            </a:r>
            <a:endParaRPr lang="en-US" sz="2000" dirty="0" smtClean="0">
              <a:latin typeface="Cambria" pitchFamily="18" charset="0"/>
              <a:ea typeface="Cambria" pitchFamily="18" charset="0"/>
            </a:endParaRPr>
          </a:p>
          <a:p>
            <a:pPr lvl="1">
              <a:buFont typeface="Wingdings" pitchFamily="2" charset="2"/>
              <a:buChar char="v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Growth momentum continues in 2022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💡 Insight: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mbria" pitchFamily="18" charset="0"/>
                <a:ea typeface="Cambria" pitchFamily="18" charset="0"/>
              </a:rPr>
              <a:t>Digital payments saw a 10X growth within 5 years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, showing India’s rapid </a:t>
            </a:r>
            <a:r>
              <a:rPr lang="en-US" sz="2000" dirty="0" err="1" smtClean="0">
                <a:latin typeface="Cambria" pitchFamily="18" charset="0"/>
                <a:ea typeface="Cambria" pitchFamily="18" charset="0"/>
              </a:rPr>
              <a:t>fintech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 revolution.</a:t>
            </a:r>
          </a:p>
          <a:p>
            <a:endParaRPr 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4048" y="3140968"/>
            <a:ext cx="4104456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8069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Top 10 States by Transactions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6958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/>
              <a:t>📌 Top States: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 err="1" smtClean="0">
                <a:latin typeface="Cambria" pitchFamily="18" charset="0"/>
                <a:ea typeface="Cambria" pitchFamily="18" charset="0"/>
              </a:rPr>
              <a:t>Telangana</a:t>
            </a:r>
            <a:endParaRPr lang="en-US" sz="2000" dirty="0" smtClean="0">
              <a:latin typeface="Cambria" pitchFamily="18" charset="0"/>
              <a:ea typeface="Cambria" pitchFamily="18" charset="0"/>
            </a:endParaRPr>
          </a:p>
          <a:p>
            <a:pPr lvl="1">
              <a:buFont typeface="Wingdings" pitchFamily="2" charset="2"/>
              <a:buChar char="v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Maharashtra</a:t>
            </a:r>
            <a:endParaRPr lang="en-US" sz="2000" dirty="0" smtClean="0">
              <a:latin typeface="Cambria" pitchFamily="18" charset="0"/>
              <a:ea typeface="Cambria" pitchFamily="18" charset="0"/>
            </a:endParaRPr>
          </a:p>
          <a:p>
            <a:pPr lvl="1">
              <a:buFont typeface="Wingdings" pitchFamily="2" charset="2"/>
              <a:buChar char="v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Karnataka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Andhra Pradesh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Rajasthan</a:t>
            </a:r>
          </a:p>
          <a:p>
            <a:pPr lvl="1">
              <a:buFont typeface="Wingdings" pitchFamily="2" charset="2"/>
              <a:buChar char="v"/>
            </a:pPr>
            <a:endParaRPr lang="en-US" sz="1800" dirty="0" smtClean="0">
              <a:latin typeface="Cambria" pitchFamily="18" charset="0"/>
              <a:ea typeface="Cambria" pitchFamily="18" charset="0"/>
            </a:endParaRPr>
          </a:p>
          <a:p>
            <a:pPr lvl="1">
              <a:buFont typeface="Wingdings" pitchFamily="2" charset="2"/>
              <a:buChar char="v"/>
            </a:pPr>
            <a:endParaRPr lang="en-US" sz="1800" dirty="0" smtClean="0">
              <a:latin typeface="Cambria" pitchFamily="18" charset="0"/>
              <a:ea typeface="Cambria" pitchFamily="18" charset="0"/>
            </a:endParaRPr>
          </a:p>
          <a:p>
            <a:pPr>
              <a:buNone/>
            </a:pPr>
            <a:r>
              <a:rPr lang="en-US" b="1" dirty="0" smtClean="0"/>
              <a:t>💡 Insight: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Southern states dominate </a:t>
            </a:r>
            <a:r>
              <a:rPr lang="en-US" sz="2000" dirty="0" err="1" smtClean="0">
                <a:latin typeface="Cambria" pitchFamily="18" charset="0"/>
                <a:ea typeface="Cambria" pitchFamily="18" charset="0"/>
              </a:rPr>
              <a:t>PhonePe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 usage due to: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Tech-savvy population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Better digital infrastructure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High UPI adoption</a:t>
            </a:r>
          </a:p>
          <a:p>
            <a:pPr lvl="1">
              <a:buFont typeface="Wingdings" pitchFamily="2" charset="2"/>
              <a:buChar char="v"/>
            </a:pPr>
            <a:endParaRPr lang="en-US" sz="1800" dirty="0">
              <a:latin typeface="Cambria" pitchFamily="18" charset="0"/>
              <a:ea typeface="Cambria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4048" y="1772816"/>
            <a:ext cx="4104456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8069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Top 10 States by Users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6237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📌 Top States: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Maharashtra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Karnataka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Andhra Pradesh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 err="1" smtClean="0">
                <a:latin typeface="Cambria" pitchFamily="18" charset="0"/>
                <a:ea typeface="Cambria" pitchFamily="18" charset="0"/>
              </a:rPr>
              <a:t>Telangana</a:t>
            </a:r>
            <a:endParaRPr lang="en-US" sz="2000" dirty="0" smtClean="0">
              <a:latin typeface="Cambria" pitchFamily="18" charset="0"/>
              <a:ea typeface="Cambria" pitchFamily="18" charset="0"/>
            </a:endParaRPr>
          </a:p>
          <a:p>
            <a:pPr lvl="1">
              <a:buFont typeface="Wingdings" pitchFamily="2" charset="2"/>
              <a:buChar char="v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Uttar Pradesh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💡 Insight: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Cambria" pitchFamily="18" charset="0"/>
                <a:ea typeface="Cambria" pitchFamily="18" charset="0"/>
              </a:rPr>
              <a:t>While South India leads in transactions,</a:t>
            </a:r>
            <a:br>
              <a:rPr lang="en-US" sz="2000" dirty="0" smtClean="0">
                <a:latin typeface="Cambria" pitchFamily="18" charset="0"/>
                <a:ea typeface="Cambria" pitchFamily="18" charset="0"/>
              </a:rPr>
            </a:br>
            <a:r>
              <a:rPr lang="en-US" sz="2000" b="1" dirty="0" smtClean="0">
                <a:latin typeface="Cambria" pitchFamily="18" charset="0"/>
                <a:ea typeface="Cambria" pitchFamily="18" charset="0"/>
              </a:rPr>
              <a:t>population-heavy states like UP &amp; Rajasthan show high user counts</a:t>
            </a:r>
            <a:r>
              <a:rPr lang="en-US" sz="2000" dirty="0" smtClean="0">
                <a:latin typeface="Cambria" pitchFamily="18" charset="0"/>
                <a:ea typeface="Cambria" pitchFamily="18" charset="0"/>
              </a:rPr>
              <a:t> (but lower transaction value).</a:t>
            </a:r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1905645"/>
            <a:ext cx="4464496" cy="2027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868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Brand-wise Device Share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695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📲 Top Smartphone Brands:</a:t>
            </a:r>
          </a:p>
          <a:p>
            <a:pPr lvl="1">
              <a:buFont typeface="Wingdings" pitchFamily="2" charset="2"/>
              <a:buChar char="v"/>
            </a:pPr>
            <a:r>
              <a:rPr lang="en-US" b="1" dirty="0" err="1" smtClean="0"/>
              <a:t>Xiaomi</a:t>
            </a:r>
            <a:r>
              <a:rPr lang="en-US" dirty="0" smtClean="0"/>
              <a:t> (highest market share)</a:t>
            </a:r>
          </a:p>
          <a:p>
            <a:pPr lvl="1">
              <a:buFont typeface="Wingdings" pitchFamily="2" charset="2"/>
              <a:buChar char="v"/>
            </a:pPr>
            <a:r>
              <a:rPr lang="en-US" b="1" dirty="0" smtClean="0">
                <a:latin typeface="Cambria" pitchFamily="18" charset="0"/>
                <a:ea typeface="Cambria" pitchFamily="18" charset="0"/>
              </a:rPr>
              <a:t>Samsung</a:t>
            </a:r>
          </a:p>
          <a:p>
            <a:pPr lvl="1">
              <a:buFont typeface="Wingdings" pitchFamily="2" charset="2"/>
              <a:buChar char="v"/>
            </a:pPr>
            <a:r>
              <a:rPr lang="en-US" b="1" dirty="0" smtClean="0">
                <a:latin typeface="Cambria" pitchFamily="18" charset="0"/>
                <a:ea typeface="Cambria" pitchFamily="18" charset="0"/>
              </a:rPr>
              <a:t>Vivo</a:t>
            </a:r>
          </a:p>
          <a:p>
            <a:pPr lvl="1">
              <a:buFont typeface="Wingdings" pitchFamily="2" charset="2"/>
              <a:buChar char="v"/>
            </a:pPr>
            <a:r>
              <a:rPr lang="en-US" b="1" dirty="0" err="1" smtClean="0">
                <a:latin typeface="Cambria" pitchFamily="18" charset="0"/>
                <a:ea typeface="Cambria" pitchFamily="18" charset="0"/>
              </a:rPr>
              <a:t>Oppo</a:t>
            </a:r>
            <a:endParaRPr lang="en-US" b="1" dirty="0" smtClean="0">
              <a:latin typeface="Cambria" pitchFamily="18" charset="0"/>
              <a:ea typeface="Cambria" pitchFamily="18" charset="0"/>
            </a:endParaRPr>
          </a:p>
          <a:p>
            <a:pPr lvl="1">
              <a:buFont typeface="Wingdings" pitchFamily="2" charset="2"/>
              <a:buChar char="v"/>
            </a:pPr>
            <a:r>
              <a:rPr lang="en-US" b="1" dirty="0" smtClean="0">
                <a:latin typeface="Cambria" pitchFamily="18" charset="0"/>
                <a:ea typeface="Cambria" pitchFamily="18" charset="0"/>
              </a:rPr>
              <a:t>Apple</a:t>
            </a:r>
          </a:p>
          <a:p>
            <a:pPr lvl="1">
              <a:buFont typeface="Wingdings" pitchFamily="2" charset="2"/>
              <a:buChar char="v"/>
            </a:pPr>
            <a:r>
              <a:rPr lang="en-US" b="1" dirty="0" smtClean="0">
                <a:latin typeface="Cambria" pitchFamily="18" charset="0"/>
                <a:ea typeface="Cambria" pitchFamily="18" charset="0"/>
              </a:rPr>
              <a:t>Others</a:t>
            </a:r>
          </a:p>
          <a:p>
            <a:pPr lvl="1">
              <a:buFont typeface="Wingdings" pitchFamily="2" charset="2"/>
              <a:buChar char="v"/>
            </a:pPr>
            <a:endParaRPr lang="en-US" b="1" dirty="0" smtClean="0">
              <a:latin typeface="Cambria" pitchFamily="18" charset="0"/>
              <a:ea typeface="Cambria" pitchFamily="18" charset="0"/>
            </a:endParaRPr>
          </a:p>
          <a:p>
            <a:pPr>
              <a:buNone/>
            </a:pPr>
            <a:r>
              <a:rPr lang="en-US" b="1" dirty="0" smtClean="0"/>
              <a:t>💡 Insight:</a:t>
            </a:r>
          </a:p>
          <a:p>
            <a:pPr lvl="1">
              <a:buFont typeface="Wingdings" pitchFamily="2" charset="2"/>
              <a:buChar char="Ø"/>
            </a:pPr>
            <a:r>
              <a:rPr lang="en-US" sz="1800" dirty="0" smtClean="0">
                <a:latin typeface="Cambria" pitchFamily="18" charset="0"/>
                <a:ea typeface="Cambria" pitchFamily="18" charset="0"/>
              </a:rPr>
              <a:t>Majority of </a:t>
            </a:r>
            <a:r>
              <a:rPr lang="en-US" sz="1800" dirty="0" err="1" smtClean="0">
                <a:latin typeface="Cambria" pitchFamily="18" charset="0"/>
                <a:ea typeface="Cambria" pitchFamily="18" charset="0"/>
              </a:rPr>
              <a:t>PhonePe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users are on 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mid-range Android devices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,</a:t>
            </a:r>
            <a:br>
              <a:rPr lang="en-US" sz="1800" dirty="0" smtClean="0">
                <a:latin typeface="Cambria" pitchFamily="18" charset="0"/>
                <a:ea typeface="Cambria" pitchFamily="18" charset="0"/>
              </a:rPr>
            </a:br>
            <a:r>
              <a:rPr lang="en-US" sz="1800" dirty="0" smtClean="0">
                <a:latin typeface="Cambria" pitchFamily="18" charset="0"/>
                <a:ea typeface="Cambria" pitchFamily="18" charset="0"/>
              </a:rPr>
              <a:t>indicating strong adoption in middle-income user groups.</a:t>
            </a:r>
          </a:p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52121" y="1810353"/>
            <a:ext cx="3456384" cy="2914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8069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Key Insights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335760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sz="2400" b="1" dirty="0" smtClean="0">
                <a:latin typeface="Cambria" pitchFamily="18" charset="0"/>
                <a:ea typeface="Cambria" pitchFamily="18" charset="0"/>
              </a:rPr>
              <a:t>India’s digital payments grew 10X from 2018–2022.</a:t>
            </a:r>
          </a:p>
          <a:p>
            <a:pPr>
              <a:buFont typeface="Wingdings" pitchFamily="2" charset="2"/>
              <a:buChar char="v"/>
            </a:pPr>
            <a:r>
              <a:rPr lang="en-US" sz="2400" b="1" dirty="0" smtClean="0">
                <a:latin typeface="Cambria" pitchFamily="18" charset="0"/>
                <a:ea typeface="Cambria" pitchFamily="18" charset="0"/>
              </a:rPr>
              <a:t>South India leads in both value &amp; volume.</a:t>
            </a:r>
          </a:p>
          <a:p>
            <a:pPr>
              <a:buFont typeface="Wingdings" pitchFamily="2" charset="2"/>
              <a:buChar char="v"/>
            </a:pPr>
            <a:r>
              <a:rPr lang="en-US" sz="2400" b="1" dirty="0" smtClean="0">
                <a:latin typeface="Cambria" pitchFamily="18" charset="0"/>
                <a:ea typeface="Cambria" pitchFamily="18" charset="0"/>
              </a:rPr>
              <a:t>Metro districts are the strongest contributors.</a:t>
            </a:r>
          </a:p>
          <a:p>
            <a:pPr>
              <a:buFont typeface="Wingdings" pitchFamily="2" charset="2"/>
              <a:buChar char="v"/>
            </a:pPr>
            <a:r>
              <a:rPr lang="en-US" sz="2400" b="1" dirty="0" smtClean="0">
                <a:latin typeface="Cambria" pitchFamily="18" charset="0"/>
                <a:ea typeface="Cambria" pitchFamily="18" charset="0"/>
              </a:rPr>
              <a:t>UPI adoption accelerated post-2020.</a:t>
            </a:r>
          </a:p>
          <a:p>
            <a:pPr>
              <a:buFont typeface="Wingdings" pitchFamily="2" charset="2"/>
              <a:buChar char="v"/>
            </a:pPr>
            <a:r>
              <a:rPr lang="en-US" sz="2400" b="1" dirty="0" err="1" smtClean="0">
                <a:latin typeface="Cambria" pitchFamily="18" charset="0"/>
                <a:ea typeface="Cambria" pitchFamily="18" charset="0"/>
              </a:rPr>
              <a:t>Xiaomi</a:t>
            </a:r>
            <a:r>
              <a:rPr lang="en-US" sz="2400" b="1" dirty="0" smtClean="0">
                <a:latin typeface="Cambria" pitchFamily="18" charset="0"/>
                <a:ea typeface="Cambria" pitchFamily="18" charset="0"/>
              </a:rPr>
              <a:t> &amp; Samsung dominate user device share.</a:t>
            </a:r>
          </a:p>
          <a:p>
            <a:pPr>
              <a:buFont typeface="Wingdings" pitchFamily="2" charset="2"/>
              <a:buChar char="v"/>
            </a:pPr>
            <a:r>
              <a:rPr lang="en-US" sz="2400" b="1" dirty="0" smtClean="0">
                <a:latin typeface="Cambria" pitchFamily="18" charset="0"/>
                <a:ea typeface="Cambria" pitchFamily="18" charset="0"/>
              </a:rPr>
              <a:t>India shows strong digital readiness &amp; </a:t>
            </a:r>
            <a:r>
              <a:rPr lang="en-US" sz="2400" b="1" dirty="0" err="1" smtClean="0">
                <a:latin typeface="Cambria" pitchFamily="18" charset="0"/>
                <a:ea typeface="Cambria" pitchFamily="18" charset="0"/>
              </a:rPr>
              <a:t>fintech</a:t>
            </a:r>
            <a:r>
              <a:rPr lang="en-US" sz="2400" b="1" dirty="0" smtClean="0">
                <a:latin typeface="Cambria" pitchFamily="18" charset="0"/>
                <a:ea typeface="Cambria" pitchFamily="18" charset="0"/>
              </a:rPr>
              <a:t> penetration.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868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Business Recommendations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b="1" dirty="0" smtClean="0">
                <a:latin typeface="Cambria" pitchFamily="18" charset="0"/>
                <a:ea typeface="Cambria" pitchFamily="18" charset="0"/>
              </a:rPr>
              <a:t>Expand merchant acceptance in Tier-2 &amp; Tier-3 cities</a:t>
            </a:r>
          </a:p>
          <a:p>
            <a:pPr>
              <a:buFont typeface="Wingdings" pitchFamily="2" charset="2"/>
              <a:buChar char="ü"/>
            </a:pPr>
            <a:r>
              <a:rPr lang="en-US" b="1" dirty="0" smtClean="0">
                <a:latin typeface="Cambria" pitchFamily="18" charset="0"/>
                <a:ea typeface="Cambria" pitchFamily="18" charset="0"/>
              </a:rPr>
              <a:t>Run user acquisition campaigns in UP, Rajasthan, Bihar</a:t>
            </a:r>
          </a:p>
          <a:p>
            <a:pPr>
              <a:buFont typeface="Wingdings" pitchFamily="2" charset="2"/>
              <a:buChar char="ü"/>
            </a:pPr>
            <a:r>
              <a:rPr lang="en-US" b="1" dirty="0" smtClean="0">
                <a:latin typeface="Cambria" pitchFamily="18" charset="0"/>
                <a:ea typeface="Cambria" pitchFamily="18" charset="0"/>
              </a:rPr>
              <a:t>Strengthen partnerships with </a:t>
            </a:r>
            <a:r>
              <a:rPr lang="en-US" b="1" dirty="0" err="1" smtClean="0">
                <a:latin typeface="Cambria" pitchFamily="18" charset="0"/>
                <a:ea typeface="Cambria" pitchFamily="18" charset="0"/>
              </a:rPr>
              <a:t>smartphone</a:t>
            </a:r>
            <a:r>
              <a:rPr lang="en-US" b="1" dirty="0" smtClean="0">
                <a:latin typeface="Cambria" pitchFamily="18" charset="0"/>
                <a:ea typeface="Cambria" pitchFamily="18" charset="0"/>
              </a:rPr>
              <a:t> brands (</a:t>
            </a:r>
            <a:r>
              <a:rPr lang="en-US" b="1" dirty="0" err="1" smtClean="0">
                <a:latin typeface="Cambria" pitchFamily="18" charset="0"/>
                <a:ea typeface="Cambria" pitchFamily="18" charset="0"/>
              </a:rPr>
              <a:t>Xiaomi</a:t>
            </a:r>
            <a:r>
              <a:rPr lang="en-US" b="1" dirty="0" smtClean="0">
                <a:latin typeface="Cambria" pitchFamily="18" charset="0"/>
                <a:ea typeface="Cambria" pitchFamily="18" charset="0"/>
              </a:rPr>
              <a:t> &amp; Samsung)</a:t>
            </a:r>
          </a:p>
          <a:p>
            <a:pPr>
              <a:buFont typeface="Wingdings" pitchFamily="2" charset="2"/>
              <a:buChar char="ü"/>
            </a:pPr>
            <a:r>
              <a:rPr lang="en-US" b="1" dirty="0" smtClean="0">
                <a:latin typeface="Cambria" pitchFamily="18" charset="0"/>
                <a:ea typeface="Cambria" pitchFamily="18" charset="0"/>
              </a:rPr>
              <a:t>Add localized language support for regional penetration</a:t>
            </a:r>
          </a:p>
          <a:p>
            <a:pPr>
              <a:buFont typeface="Wingdings" pitchFamily="2" charset="2"/>
              <a:buChar char="ü"/>
            </a:pPr>
            <a:r>
              <a:rPr lang="en-US" b="1" dirty="0" smtClean="0">
                <a:latin typeface="Cambria" pitchFamily="18" charset="0"/>
                <a:ea typeface="Cambria" pitchFamily="18" charset="0"/>
              </a:rPr>
              <a:t>Incentivize first-time digital payment users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868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2400" dirty="0" smtClean="0">
                <a:latin typeface="Cambria" pitchFamily="18" charset="0"/>
                <a:ea typeface="Cambria" pitchFamily="18" charset="0"/>
              </a:rPr>
              <a:t>India is experiencing unprecedented digital payment growth</a:t>
            </a:r>
          </a:p>
          <a:p>
            <a:pPr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2400" dirty="0" err="1" smtClean="0">
                <a:latin typeface="Cambria" pitchFamily="18" charset="0"/>
                <a:ea typeface="Cambria" pitchFamily="18" charset="0"/>
              </a:rPr>
              <a:t>PhonePe</a:t>
            </a:r>
            <a:r>
              <a:rPr lang="en-US" sz="2400" dirty="0" smtClean="0">
                <a:latin typeface="Cambria" pitchFamily="18" charset="0"/>
                <a:ea typeface="Cambria" pitchFamily="18" charset="0"/>
              </a:rPr>
              <a:t> plays a major role in accelerating UPI adoption</a:t>
            </a:r>
          </a:p>
          <a:p>
            <a:pPr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Cambria" pitchFamily="18" charset="0"/>
                <a:ea typeface="Cambria" pitchFamily="18" charset="0"/>
              </a:rPr>
              <a:t>Insights show </a:t>
            </a:r>
            <a:r>
              <a:rPr lang="en-US" sz="2400" b="1" dirty="0" smtClean="0">
                <a:latin typeface="Cambria" pitchFamily="18" charset="0"/>
                <a:ea typeface="Cambria" pitchFamily="18" charset="0"/>
              </a:rPr>
              <a:t>strong national penetration</a:t>
            </a:r>
            <a:endParaRPr lang="en-US" sz="2400" dirty="0" smtClean="0">
              <a:latin typeface="Cambria" pitchFamily="18" charset="0"/>
              <a:ea typeface="Cambria" pitchFamily="18" charset="0"/>
            </a:endParaRPr>
          </a:p>
          <a:p>
            <a:pPr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Cambria" pitchFamily="18" charset="0"/>
                <a:ea typeface="Cambria" pitchFamily="18" charset="0"/>
              </a:rPr>
              <a:t>Future growth will come from semi-urban &amp; rural regions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6858000"/>
          </a:xfrm>
        </p:spPr>
        <p:txBody>
          <a:bodyPr anchor="ctr">
            <a:normAutofit/>
          </a:bodyPr>
          <a:lstStyle/>
          <a:p>
            <a:pPr algn="ctr"/>
            <a:r>
              <a:rPr lang="en-US" sz="6000" dirty="0" smtClean="0"/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128</TotalTime>
  <Words>519</Words>
  <Application>Microsoft Office PowerPoint</Application>
  <PresentationFormat>On-screen Show (4:3)</PresentationFormat>
  <Paragraphs>128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Flow</vt:lpstr>
      <vt:lpstr>PhonePe Pulse Data Visualization (2018–2023)</vt:lpstr>
      <vt:lpstr>Project Overview</vt:lpstr>
      <vt:lpstr>Dashboard Overview</vt:lpstr>
      <vt:lpstr>Key KPIs</vt:lpstr>
      <vt:lpstr>Geo Visualization (By State)</vt:lpstr>
      <vt:lpstr>Geo Visualization (By District)</vt:lpstr>
      <vt:lpstr>Time-Series Trend (2018–2022)</vt:lpstr>
      <vt:lpstr>Top 10 States by Transactions</vt:lpstr>
      <vt:lpstr>Top 10 States by Users</vt:lpstr>
      <vt:lpstr>Brand-wise Device Share</vt:lpstr>
      <vt:lpstr>Key Insights Summary</vt:lpstr>
      <vt:lpstr>Business Recommendations</vt:lpstr>
      <vt:lpstr>Conclusion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PhonePe Pulse Data Visualization (2018–2023)</dc:title>
  <dc:creator>dell</dc:creator>
  <cp:lastModifiedBy>dell</cp:lastModifiedBy>
  <cp:revision>10</cp:revision>
  <dcterms:created xsi:type="dcterms:W3CDTF">2025-11-26T07:39:36Z</dcterms:created>
  <dcterms:modified xsi:type="dcterms:W3CDTF">2025-11-26T09:50:47Z</dcterms:modified>
</cp:coreProperties>
</file>